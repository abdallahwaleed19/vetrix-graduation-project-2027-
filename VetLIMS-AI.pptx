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Medium"/>
      <p:regular r:id="rId201317"/>
    </p:embeddedFont>
    <p:embeddedFont>
      <p:font typeface="Space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4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5943451" cy="5461000"/>
          </a:xfrm>
          <a:prstGeom prst="roundRect">
            <a:avLst>
              <a:gd name="adj" fmla="val 3349"/>
            </a:avLst>
          </a:prstGeom>
          <a:solidFill>
            <a:srgbClr val="071014">
              <a:alpha val="86000"/>
            </a:srgbClr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7724" y="1074896"/>
            <a:ext cx="567675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ACADEMIC DEFENSE · VETERINARY PHARMACEUTICALS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7724" y="1723331"/>
            <a:ext cx="5067173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b="1" spc="-76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VetLIMS AI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1047724" y="2793623"/>
            <a:ext cx="506717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800" spc="-18" kern="1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Intelligent Veterinary Pharmaceutical Laboratory Information Management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24" y="3421757"/>
            <a:ext cx="506717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Menoufia National University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Faculty of Computers &amp; Artificial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4" y="4145181"/>
            <a:ext cx="5067173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Abdallah Waleed · Saif Sameh · Mohamed Shaheen · Taqa Medhat · Mohamed Salah · Mahmoud Abdelghany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5" y="6350000"/>
            <a:ext cx="5943451" cy="25400"/>
          </a:xfrm>
          <a:prstGeom prst="line">
            <a:avLst/>
          </a:prstGeom>
          <a:solidFill>
            <a:srgbClr val="32D6FF"/>
          </a:solidFill>
          <a:ln w="25400">
            <a:solidFill>
              <a:srgbClr val="32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7828" y="6350000"/>
            <a:ext cx="4571886" cy="25400"/>
          </a:xfrm>
          <a:prstGeom prst="line">
            <a:avLst/>
          </a:prstGeom>
          <a:solidFill>
            <a:srgbClr val="32D6FF"/>
          </a:solidFill>
          <a:ln w="25400">
            <a:solidFill>
              <a:srgbClr val="32E5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291080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 · CORE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2301222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From fragmented QA/QC to one secure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3080960"/>
            <a:ext cx="2301222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9FB7C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modern operating layer for veterinary pharmaceutical laboratories.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77481" y="0"/>
            <a:ext cx="3548767" cy="6858000"/>
          </a:xfrm>
          <a:prstGeom prst="roundRect">
            <a:avLst>
              <a:gd name="adj" fmla="val 5153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93416" y="617696"/>
            <a:ext cx="29264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93416" y="919308"/>
            <a:ext cx="23168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Disconnected evidence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93416" y="1564580"/>
            <a:ext cx="231689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Instruments, analysts, standards, approvals, and reports remain separated.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Manual handoffs make review slower and traceability harder.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416" y="3719612"/>
            <a:ext cx="292648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9FB7C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FRAGMENTED QA/QC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42828" y="0"/>
            <a:ext cx="3548867" cy="6858000"/>
          </a:xfrm>
          <a:prstGeom prst="roundRect">
            <a:avLst>
              <a:gd name="adj" fmla="val 5153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58763" y="617696"/>
            <a:ext cx="292658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WITH VETLIMS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58763" y="919308"/>
            <a:ext cx="23169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Traceable intelligence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258763" y="1564580"/>
            <a:ext cx="2316998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workflow connects data, people, decisions, and reports.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CFR 21 Part 11 and GMP expectations shape the foundation.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58763" y="3443387"/>
            <a:ext cx="231699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E59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SECURE DIGITAL ECOSYSTEM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1158211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 · SYSTEM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One connected path from sample to signed CoA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123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 handoff leaves a traceable record.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926530"/>
            <a:ext cx="3454314" cy="1978025"/>
          </a:xfrm>
          <a:prstGeom prst="roundRect">
            <a:avLst>
              <a:gd name="adj" fmla="val 924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28" y="223133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65216" y="2186133"/>
            <a:ext cx="24637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Register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65216" y="2567087"/>
            <a:ext cx="246373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Receive and register the sample.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8691" y="1926530"/>
            <a:ext cx="3454314" cy="1978025"/>
          </a:xfrm>
          <a:prstGeom prst="roundRect">
            <a:avLst>
              <a:gd name="adj" fmla="val 924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434" y="223133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4322" y="2186133"/>
            <a:ext cx="24637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Track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4322" y="2567087"/>
            <a:ext cx="246373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Generate a unique QR code and chain-of-custody record.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1926530"/>
            <a:ext cx="3454314" cy="1978025"/>
          </a:xfrm>
          <a:prstGeom prst="roundRect">
            <a:avLst>
              <a:gd name="adj" fmla="val 924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3540" y="223133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83428" y="2186133"/>
            <a:ext cx="24637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Ingest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83428" y="2567087"/>
            <a:ext cx="246373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Ingest instrument data through APIs, IoT simulation, OCR, or manual entry.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5" y="4209355"/>
            <a:ext cx="5333867" cy="1425575"/>
          </a:xfrm>
          <a:prstGeom prst="roundRect">
            <a:avLst>
              <a:gd name="adj" fmla="val 12828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5328" y="45141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65216" y="4468958"/>
            <a:ext cx="43432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Review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65216" y="4849912"/>
            <a:ext cx="434329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Run validation, testing logic, and AI-assisted review.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48244" y="4209355"/>
            <a:ext cx="5333867" cy="1425575"/>
          </a:xfrm>
          <a:prstGeom prst="roundRect">
            <a:avLst>
              <a:gd name="adj" fmla="val 12828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3987" y="45141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03875" y="4468958"/>
            <a:ext cx="43432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Issue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03875" y="4849912"/>
            <a:ext cx="457823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Approve and issue the final Certificate of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44452"/>
            <a:ext cx="3474653" cy="19689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497" y="87868"/>
            <a:ext cx="643119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 · COMPUTER VISION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497" y="393402"/>
            <a:ext cx="582161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Computer Vision &amp; Legacy Digitization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760497" y="1357809"/>
            <a:ext cx="58216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Camera input turns legacy instrument displays into validated, machine-readable records.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60497" y="2079327"/>
            <a:ext cx="2758411" cy="2193925"/>
          </a:xfrm>
          <a:prstGeom prst="roundRect">
            <a:avLst>
              <a:gd name="adj" fmla="val 833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441" y="2314277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95441" y="2831055"/>
            <a:ext cx="22885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Camera input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95441" y="3212009"/>
            <a:ext cx="228852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Capture instrument displays and sample-container condition.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823700" y="2079327"/>
            <a:ext cx="2758411" cy="2193925"/>
          </a:xfrm>
          <a:prstGeom prst="roundRect">
            <a:avLst>
              <a:gd name="adj" fmla="val 833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058644" y="2831055"/>
            <a:ext cx="22885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YOLO detection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058644" y="3212009"/>
            <a:ext cx="228852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Detect numeric displays on legacy laboratory equipment.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760497" y="4578052"/>
            <a:ext cx="2758411" cy="2193925"/>
          </a:xfrm>
          <a:prstGeom prst="roundRect">
            <a:avLst>
              <a:gd name="adj" fmla="val 833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441" y="4813002"/>
            <a:ext cx="38099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95441" y="5329780"/>
            <a:ext cx="22885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EasyOCR extraction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995441" y="5710734"/>
            <a:ext cx="228852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Automatically extract readings from instrument screens.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823700" y="4578052"/>
            <a:ext cx="2758411" cy="2193925"/>
          </a:xfrm>
          <a:prstGeom prst="roundRect">
            <a:avLst>
              <a:gd name="adj" fmla="val 833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644" y="4813002"/>
            <a:ext cx="380990" cy="381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8644" y="5329780"/>
            <a:ext cx="22885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Validation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058644" y="5710734"/>
            <a:ext cx="228852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Verify QR identity, container integrity, and record consistency.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6822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 · KNOWLEDGE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621272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Grounded answers, retrieved from trusted standards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878905"/>
            <a:ext cx="3030164" cy="1701800"/>
          </a:xfrm>
          <a:prstGeom prst="roundRect">
            <a:avLst>
              <a:gd name="adj" fmla="val 1074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138508"/>
            <a:ext cx="2560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Question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4529" y="2519462"/>
            <a:ext cx="256027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“What acceptance criteria apply to this test?”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2145" y="1878905"/>
            <a:ext cx="3030164" cy="1701800"/>
          </a:xfrm>
          <a:prstGeom prst="roundRect">
            <a:avLst>
              <a:gd name="adj" fmla="val 10746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7089" y="2138508"/>
            <a:ext cx="2560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Embeddings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7089" y="2519462"/>
            <a:ext cx="256027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Convert the request into a semantic search representation.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5" y="3733105"/>
            <a:ext cx="3030164" cy="2254250"/>
          </a:xfrm>
          <a:prstGeom prst="roundRect">
            <a:avLst>
              <a:gd name="adj" fmla="val 811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529" y="3992708"/>
            <a:ext cx="2560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Retrieval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4529" y="4373662"/>
            <a:ext cx="256027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FAISS or Qdrant finds relevant passages: testing standards, acceptance criteria, and impurity limits—instantly.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92145" y="3733105"/>
            <a:ext cx="3030164" cy="2254250"/>
          </a:xfrm>
          <a:prstGeom prst="roundRect">
            <a:avLst>
              <a:gd name="adj" fmla="val 811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7089" y="3992708"/>
            <a:ext cx="2560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Grounded answer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7089" y="4373662"/>
            <a:ext cx="256027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Return a concise response with standards-based context.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568" y="1531640"/>
            <a:ext cx="2381190" cy="3175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98568" y="4886345"/>
            <a:ext cx="3083542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9FB7C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Indexed sources: Egyptian Drug Authority guidance, BP Vet, and USP 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6822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621272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Detect the signal before it becomes an investigation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878905"/>
            <a:ext cx="2953966" cy="2920305"/>
          </a:xfrm>
          <a:prstGeom prst="roundRect">
            <a:avLst>
              <a:gd name="adj" fmla="val 626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115602"/>
            <a:ext cx="27190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RESULT SIGNAL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4529" y="2417214"/>
            <a:ext cx="24840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OOS risk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4529" y="2798167"/>
            <a:ext cx="248407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Isolation Forest and XGBoost flag likely Out-of-Specification results for earlier investigation and corrective action.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4529" y="4290417"/>
            <a:ext cx="27190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E59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ANOMALY DETECTED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68343" y="1878905"/>
            <a:ext cx="2953966" cy="2920305"/>
          </a:xfrm>
          <a:prstGeom prst="roundRect">
            <a:avLst>
              <a:gd name="adj" fmla="val 626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3287" y="2115602"/>
            <a:ext cx="27190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EQUIPMENT 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03287" y="2417214"/>
            <a:ext cx="24840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Maintenance horizon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03287" y="2798167"/>
            <a:ext cx="248407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Operational hours across 10 lab instruments support predictive maintenance before disruption.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03287" y="4014192"/>
            <a:ext cx="24840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D6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MONITOR CONTINUOUSLY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568" y="1446510"/>
            <a:ext cx="2381190" cy="317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98568" y="4750415"/>
            <a:ext cx="3083542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9FB7C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system turns operational history into a decision cue for analysts and maintenance teams.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6731"/>
            <a:ext cx="1158211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TRUST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spc="-4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Security &amp; Audit Trail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677591"/>
            <a:ext cx="5333867" cy="1641475"/>
          </a:xfrm>
          <a:prstGeom prst="roundRect">
            <a:avLst>
              <a:gd name="adj" fmla="val 1114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1912541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4529" y="2429319"/>
            <a:ext cx="48639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Audit logging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4529" y="2810272"/>
            <a:ext cx="50989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Cryptographic history makes changes tamper-evident.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8244" y="1677591"/>
            <a:ext cx="5333867" cy="1641475"/>
          </a:xfrm>
          <a:prstGeom prst="roundRect">
            <a:avLst>
              <a:gd name="adj" fmla="val 1114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188" y="1912541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3188" y="2429319"/>
            <a:ext cx="48639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Immutability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83188" y="2810272"/>
            <a:ext cx="50989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Regulated records preserve their original evidence.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09585" y="3623866"/>
            <a:ext cx="5333867" cy="1641475"/>
          </a:xfrm>
          <a:prstGeom prst="roundRect">
            <a:avLst>
              <a:gd name="adj" fmla="val 1114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3858816"/>
            <a:ext cx="38099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529" y="4375594"/>
            <a:ext cx="48639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RBAC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44529" y="4756547"/>
            <a:ext cx="50989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Access follows the user's role and responsibility.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48244" y="3623866"/>
            <a:ext cx="5333867" cy="1641475"/>
          </a:xfrm>
          <a:prstGeom prst="roundRect">
            <a:avLst>
              <a:gd name="adj" fmla="val 1114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188" y="3858816"/>
            <a:ext cx="380990" cy="381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3188" y="4375594"/>
            <a:ext cx="48639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2FA signatures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83188" y="4756547"/>
            <a:ext cx="509892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Electronic approvals support CFR 21 Part 11 workflows.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09585" y="5436791"/>
            <a:ext cx="10972526" cy="746125"/>
          </a:xfrm>
          <a:prstGeom prst="roundRect">
            <a:avLst>
              <a:gd name="adj" fmla="val 24510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44529" y="5674122"/>
            <a:ext cx="1073758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32E59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GMP expectations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meet role-based action, signed approval, and a tamper-evident audit trail.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1158211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07 · TEAM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26405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spc="-4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Team Roles &amp; Milestone Execution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1458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Term 1 establishes the backbone. Term 2 connects, validates, and deploys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059880"/>
            <a:ext cx="3124023" cy="1261666"/>
          </a:xfrm>
          <a:prstGeom prst="roundRect">
            <a:avLst>
              <a:gd name="adj" fmla="val 1449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316602"/>
            <a:ext cx="26541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Abdallah Waleed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4529" y="2646581"/>
            <a:ext cx="26541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System Architecture, Backend APIs &amp; IoT Ingestion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004" y="2059880"/>
            <a:ext cx="3124122" cy="1261666"/>
          </a:xfrm>
          <a:prstGeom prst="roundRect">
            <a:avLst>
              <a:gd name="adj" fmla="val 1449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20948" y="2316602"/>
            <a:ext cx="26542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Saif Sameh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20948" y="2646581"/>
            <a:ext cx="26542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Computer Vision (YOLO/OCR) &amp; Device Simulation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5" y="3473847"/>
            <a:ext cx="3124023" cy="1261864"/>
          </a:xfrm>
          <a:prstGeom prst="roundRect">
            <a:avLst>
              <a:gd name="adj" fmla="val 1449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29" y="3730568"/>
            <a:ext cx="26541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Mohamed Shaheen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529" y="4060547"/>
            <a:ext cx="26541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RAG Pipeline, Vector DB &amp; LLM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004" y="3473847"/>
            <a:ext cx="3124122" cy="1261864"/>
          </a:xfrm>
          <a:prstGeom prst="roundRect">
            <a:avLst>
              <a:gd name="adj" fmla="val 14492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0948" y="3730568"/>
            <a:ext cx="26542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Taqa Medhat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20948" y="4060547"/>
            <a:ext cx="26542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UI/UX (React/Next.js) &amp; CoA Reporting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5" y="4888012"/>
            <a:ext cx="3124023" cy="1261666"/>
          </a:xfrm>
          <a:prstGeom prst="roundRect">
            <a:avLst>
              <a:gd name="adj" fmla="val 1449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529" y="5144733"/>
            <a:ext cx="26541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Mohamed Salah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4529" y="5474712"/>
            <a:ext cx="26541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ML Models for Anomaly Detection &amp; Predictive Maintenance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004" y="4888012"/>
            <a:ext cx="3124122" cy="1261666"/>
          </a:xfrm>
          <a:prstGeom prst="roundRect">
            <a:avLst>
              <a:gd name="adj" fmla="val 14495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20948" y="5144733"/>
            <a:ext cx="26542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spc="-16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Mahmoud Abdelghany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20948" y="5474712"/>
            <a:ext cx="265423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Data Engineering, Docker &amp; System Integration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4918" y="2059880"/>
            <a:ext cx="2057349" cy="4089797"/>
          </a:xfrm>
          <a:prstGeom prst="roundRect">
            <a:avLst>
              <a:gd name="adj" fmla="val 8889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9862" y="2296577"/>
            <a:ext cx="182240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TERM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9862" y="2598189"/>
            <a:ext cx="15874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Foundations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9862" y="2978666"/>
            <a:ext cx="1587460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MVP backbone, APIs, OCR, RAG demonstration, and initial data flows.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24663" y="2059880"/>
            <a:ext cx="2057448" cy="4089797"/>
          </a:xfrm>
          <a:prstGeom prst="roundRect">
            <a:avLst>
              <a:gd name="adj" fmla="val 8888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59607" y="2296577"/>
            <a:ext cx="182250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F2FAF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TERM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59607" y="2598189"/>
            <a:ext cx="15875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Integration &amp; deployment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59607" y="3245366"/>
            <a:ext cx="1587560" cy="1104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Connect modules, validate workflows, harden security, and prepare the system for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295654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08 · TERM 1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234696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Prototypes make the architecture executable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681387"/>
            <a:ext cx="234696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deliverable turns one system promise into something the team can run, inspect, and improve.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5587425"/>
            <a:ext cx="2346961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9FB7C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Initial scope focuses on a minimal viable backbone, not a production claim.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70823" y="0"/>
            <a:ext cx="4008040" cy="6858000"/>
          </a:xfrm>
          <a:prstGeom prst="roundRect">
            <a:avLst>
              <a:gd name="adj" fmla="val 4563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758" y="615950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6758" y="1193053"/>
            <a:ext cx="2776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MVP backbone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86758" y="1574006"/>
            <a:ext cx="27761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Minimal Viable Product scope and initial system backbone.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86758" y="2297906"/>
            <a:ext cx="338575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E59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FOUNDATION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86758" y="2789238"/>
            <a:ext cx="2776170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758" y="3038475"/>
            <a:ext cx="380990" cy="381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6758" y="3555253"/>
            <a:ext cx="2776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OCR pipeline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86758" y="3936206"/>
            <a:ext cx="27761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Script for legacy display ingestion from laboratory equipment.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86758" y="4876006"/>
            <a:ext cx="27761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D6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VISION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83655" y="0"/>
            <a:ext cx="4008040" cy="6858000"/>
          </a:xfrm>
          <a:prstGeom prst="roundRect">
            <a:avLst>
              <a:gd name="adj" fmla="val 4563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90" y="615950"/>
            <a:ext cx="38099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9590" y="1193053"/>
            <a:ext cx="2776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Initial APIs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799590" y="1574006"/>
            <a:ext cx="27761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Endpoints for samples, instruments, users, and approvals.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799590" y="2574131"/>
            <a:ext cx="338575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D6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CONNECTIVITY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799590" y="3065463"/>
            <a:ext cx="2776170" cy="31651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590" y="3314700"/>
            <a:ext cx="380990" cy="381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99590" y="3831478"/>
            <a:ext cx="27761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RAG demonstration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8799590" y="4212431"/>
            <a:ext cx="27761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Question-answering grounded in indexed references.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799590" y="4876006"/>
            <a:ext cx="27761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210" kern="100" dirty="0">
                <a:solidFill>
                  <a:srgbClr val="32E59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EVIDENCE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346"/>
            <a:ext cx="643119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54" kern="100" dirty="0">
                <a:solidFill>
                  <a:srgbClr val="32D6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09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6880"/>
            <a:ext cx="582161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b="1" spc="-30" kern="100" dirty="0">
                <a:solidFill>
                  <a:srgbClr val="F2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VetLIMS AI connects laboratory operations, AI assistance, and regulated traceability.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281337"/>
            <a:ext cx="58216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Roadmap: graduation prototype to production-ready laboratory intelligence.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3002855"/>
            <a:ext cx="2834609" cy="2365375"/>
          </a:xfrm>
          <a:prstGeom prst="roundRect">
            <a:avLst>
              <a:gd name="adj" fmla="val 773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3262458"/>
            <a:ext cx="23647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Prototype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4529" y="3641030"/>
            <a:ext cx="2364721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Graduation prototype.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Industrial impact: faster QA/QC, fewer manual errors, stronger audit readiness.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96590" y="3002855"/>
            <a:ext cx="2834609" cy="2365375"/>
          </a:xfrm>
          <a:prstGeom prst="roundRect">
            <a:avLst>
              <a:gd name="adj" fmla="val 7731"/>
            </a:avLst>
          </a:prstGeom>
          <a:solidFill>
            <a:srgbClr val="10242A"/>
          </a:solidFill>
          <a:ln w="6350">
            <a:solidFill>
              <a:srgbClr val="32D6FF"/>
            </a:solidFill>
            <a:prstDash val="solid"/>
          </a:ln>
          <a:effectLst>
            <a:outerShdw sx="100000" sy="100000" kx="0" ky="0" algn="bl" rotWithShape="0" blurRad="151130" dist="127" dir="16200000">
              <a:srgbClr val="32d6f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31534" y="3262458"/>
            <a:ext cx="23647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spc="-20" kern="100" dirty="0">
                <a:solidFill>
                  <a:srgbClr val="F2FA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Future scope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31534" y="3643412"/>
            <a:ext cx="236472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AFC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Blockchain-backed audit trails and live deployment across veterinary laboratories.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2026-10-28T13:20:01Z</dcterms:created>
  <dcterms:modified xsi:type="dcterms:W3CDTF">2026-10-28T13:20:01Z</dcterms:modified>
</cp:coreProperties>
</file>