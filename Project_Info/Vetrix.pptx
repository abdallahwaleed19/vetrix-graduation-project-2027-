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BM Plex Sans"/>
      <p:regular r:id="rId201314"/>
    </p:embeddedFont>
    <p:embeddedFont>
      <p:font typeface="IBM Plex Sans SemiBold"/>
      <p:regular r:id="rId201315"/>
    </p:embeddedFont>
    <p:embeddedFont>
      <p:font typeface="IBM Plex Sans Bold"/>
      <p:regular r:id="rId201316"/>
    </p:embeddedFont>
    <p:embeddedFont>
      <p:font typeface="IBM Plex Sans Medium"/>
      <p:regular r:id="rId201317"/>
    </p:embeddedFont>
    <p:embeddedFont>
      <p:font typeface="Space Grotesk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5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2" Type="http://schemas.openxmlformats.org/officeDocument/2006/relationships/image" Target="../media/image-1005-2.jpeg"/><Relationship Id="rId3" Type="http://schemas.openxmlformats.org/officeDocument/2006/relationships/image" Target="../media/image-1005-3.png"/><Relationship Id="rId4" Type="http://schemas.openxmlformats.org/officeDocument/2006/relationships/image" Target="../media/image-1002-2.png"/><Relationship Id="rId6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4">
    <p:bg>
      <p:bgPr>
        <a:solidFill>
          <a:srgbClr val="0711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3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jpe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987" y="508000"/>
            <a:ext cx="3708307" cy="5842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749681" y="545783"/>
            <a:ext cx="744201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82" kern="100" dirty="0">
                <a:solidFill>
                  <a:srgbClr val="00F2F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COMPUTER SCIENCE &amp; AI · GRADUATION PROJECT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4749681" y="2642354"/>
            <a:ext cx="7162621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400" b="1" spc="-88" kern="100" dirty="0">
                <a:solidFill>
                  <a:srgbClr val="F2F8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Vetrix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749681" y="3730228"/>
            <a:ext cx="7162621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8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Next-Gen Intelligent Veterinary Pharmaceutical Laboratory Information Management System (LIMS)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4749681" y="4609703"/>
            <a:ext cx="2363530" cy="50701"/>
          </a:xfrm>
          <a:prstGeom prst="roundRect">
            <a:avLst>
              <a:gd name="adj" fmla="val 49999"/>
            </a:avLst>
          </a:prstGeom>
          <a:solidFill>
            <a:srgbClr val="00F2FE"/>
          </a:solidFill>
          <a:ln/>
        </p:spPr>
      </p:sp>
      <p:sp>
        <p:nvSpPr>
          <p:cNvPr id="7" name="Text 4"/>
          <p:cNvSpPr/>
          <p:nvPr/>
        </p:nvSpPr>
        <p:spPr>
          <a:xfrm>
            <a:off x="4749681" y="4893866"/>
            <a:ext cx="7162621" cy="871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350"/>
              </a:spcAft>
              <a:buNone/>
            </a:pPr>
            <a:r>
              <a:rPr lang="en-US" sz="1400" spc="14" kern="100" dirty="0">
                <a:solidFill>
                  <a:srgbClr val="B5C5D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Menoufia National University · Faculty of Computers &amp; Artificial Intelligence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5C5D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Abdallah Waleed · Saif Sameh · Mohamed Shaheen · Taqa Medhat · Mohamed Salah · Mahmoud Abdelghany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749681" y="5942707"/>
            <a:ext cx="7162621" cy="381893"/>
          </a:xfrm>
          <a:prstGeom prst="roundRect">
            <a:avLst>
              <a:gd name="adj" fmla="val 49999"/>
            </a:avLst>
          </a:prstGeom>
          <a:solidFill>
            <a:srgbClr val="101F2B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62381" y="5955407"/>
            <a:ext cx="3142775" cy="356493"/>
          </a:xfrm>
          <a:prstGeom prst="roundRect">
            <a:avLst>
              <a:gd name="adj" fmla="val 21545"/>
            </a:avLst>
          </a:prstGeom>
          <a:noFill/>
          <a:ln w="6350">
            <a:solidFill>
              <a:srgbClr val="B5C5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99498" y="6029568"/>
            <a:ext cx="3478125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115" kern="100" dirty="0">
                <a:solidFill>
                  <a:srgbClr val="B5C5D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VETERINARY PHARMA · LIMS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9583"/>
            <a:ext cx="1173450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82" kern="100" dirty="0">
                <a:solidFill>
                  <a:srgbClr val="00F2F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01 · THE CASE FOR CHANGE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771763"/>
            <a:ext cx="11277318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b="1" spc="-72" kern="100" dirty="0">
                <a:solidFill>
                  <a:srgbClr val="F2F8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Transformative Vision &amp; Problem Statement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189" y="1467048"/>
            <a:ext cx="3721503" cy="50701"/>
          </a:xfrm>
          <a:prstGeom prst="roundRect">
            <a:avLst>
              <a:gd name="adj" fmla="val 49999"/>
            </a:avLst>
          </a:prstGeom>
          <a:solidFill>
            <a:srgbClr val="00F2FE"/>
          </a:solidFill>
          <a:ln/>
        </p:spPr>
      </p:sp>
      <p:sp>
        <p:nvSpPr>
          <p:cNvPr id="5" name="Text 3"/>
          <p:cNvSpPr/>
          <p:nvPr/>
        </p:nvSpPr>
        <p:spPr>
          <a:xfrm>
            <a:off x="457189" y="1759783"/>
            <a:ext cx="1173450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One secure, traceable ecosystem from sample receipt to governed approval.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189" y="2237581"/>
            <a:ext cx="11277318" cy="2375098"/>
          </a:xfrm>
          <a:prstGeom prst="roundRect">
            <a:avLst>
              <a:gd name="adj" fmla="val 7700"/>
            </a:avLst>
          </a:prstGeom>
          <a:solidFill>
            <a:srgbClr val="101F2B"/>
          </a:solidFill>
          <a:ln w="12700">
            <a:solidFill>
              <a:srgbClr val="294454"/>
            </a:solidFill>
            <a:prstDash val="solid"/>
          </a:ln>
          <a:effectLst>
            <a:outerShdw sx="100000" sy="100000" kx="0" ky="0" algn="bl" rotWithShape="0" blurRad="201930" dist="127" dir="16200000">
              <a:srgbClr val="00f2fe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69888" y="2250281"/>
            <a:ext cx="3547378" cy="2349698"/>
          </a:xfrm>
          <a:prstGeom prst="roundRect">
            <a:avLst>
              <a:gd name="adj" fmla="val 4086"/>
            </a:avLst>
          </a:prstGeom>
          <a:solidFill>
            <a:srgbClr val="04454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483" y="2478881"/>
            <a:ext cx="457189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98483" y="3069431"/>
            <a:ext cx="309019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D1DCE4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Digitize the lab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698483" y="3579257"/>
            <a:ext cx="3090190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Replace fragmented traditional QA/QC work with connected digital records.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4322059" y="2250281"/>
            <a:ext cx="3547478" cy="2349698"/>
          </a:xfrm>
          <a:prstGeom prst="roundRect">
            <a:avLst>
              <a:gd name="adj" fmla="val 4086"/>
            </a:avLst>
          </a:prstGeom>
          <a:solidFill>
            <a:srgbClr val="04454E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0653" y="2478881"/>
            <a:ext cx="457189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50653" y="3069431"/>
            <a:ext cx="309028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D1DCE4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Connect the evidence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4550653" y="3579257"/>
            <a:ext cx="3090289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Bind instrument data, sample identity, testing standards, and approvals.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8174329" y="2250281"/>
            <a:ext cx="3547478" cy="2349698"/>
          </a:xfrm>
          <a:prstGeom prst="roundRect">
            <a:avLst>
              <a:gd name="adj" fmla="val 4086"/>
            </a:avLst>
          </a:prstGeom>
          <a:solidFill>
            <a:srgbClr val="04454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2923" y="2478881"/>
            <a:ext cx="457189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2923" y="3069431"/>
            <a:ext cx="309028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D1DCE4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Govern every action</a:t>
            </a:r>
            <a:endParaRPr lang="en-US" sz="2400" dirty="0"/>
          </a:p>
        </p:txBody>
      </p:sp>
      <p:sp>
        <p:nvSpPr>
          <p:cNvPr id="18" name="Text 13"/>
          <p:cNvSpPr/>
          <p:nvPr/>
        </p:nvSpPr>
        <p:spPr>
          <a:xfrm>
            <a:off x="8402923" y="3579257"/>
            <a:ext cx="3090289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Design for CFR 21 Part 11 and GMP-aligned operations.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11866960" y="6521351"/>
            <a:ext cx="324735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2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9583"/>
            <a:ext cx="746741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82" kern="100" dirty="0">
                <a:solidFill>
                  <a:srgbClr val="00F2F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02 · 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771763"/>
            <a:ext cx="7010225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b="1" spc="-72" kern="100" dirty="0">
                <a:solidFill>
                  <a:srgbClr val="F2F8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End-to-End System Architecture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189" y="1420058"/>
            <a:ext cx="701022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 connected pipeline turns physical samples and legacy instruments into reviewable evidence.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189" y="2206427"/>
            <a:ext cx="7010225" cy="1746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65760" indent="-365760">
              <a:lnSpc>
                <a:spcPct val="113000"/>
              </a:lnSpc>
              <a:buSzPct val="100000"/>
              <a:buFont typeface="+mj-lt"/>
              <a:buAutoNum type="arabicPeriod" startAt="1"/>
            </a:pPr>
            <a:r>
              <a:rPr lang="en-US" sz="180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Receive and identify the sample</a:t>
            </a:r>
            <a:endParaRPr lang="en-US" sz="1800" dirty="0"/>
          </a:p>
          <a:p>
            <a:pPr algn="l" marL="365760" indent="-365760">
              <a:lnSpc>
                <a:spcPct val="113000"/>
              </a:lnSpc>
              <a:buSzPct val="100000"/>
              <a:buFont typeface="+mj-lt"/>
              <a:buAutoNum type="arabicPeriod" startAt="2"/>
            </a:pPr>
            <a:r>
              <a:rPr lang="en-US" sz="180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Generate a QR code and bind the sample record</a:t>
            </a:r>
            <a:endParaRPr lang="en-US" sz="1800" dirty="0"/>
          </a:p>
          <a:p>
            <a:pPr algn="l" marL="365760" indent="-365760">
              <a:lnSpc>
                <a:spcPct val="113000"/>
              </a:lnSpc>
              <a:buSzPct val="100000"/>
              <a:buFont typeface="+mj-lt"/>
              <a:buAutoNum type="arabicPeriod" startAt="3"/>
            </a:pPr>
            <a:r>
              <a:rPr lang="en-US" sz="180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Capture legacy instrument displays</a:t>
            </a:r>
            <a:endParaRPr lang="en-US" sz="1800" dirty="0"/>
          </a:p>
          <a:p>
            <a:pPr algn="l" marL="365760" indent="-365760">
              <a:lnSpc>
                <a:spcPct val="113000"/>
              </a:lnSpc>
              <a:buSzPct val="100000"/>
              <a:buFont typeface="+mj-lt"/>
              <a:buAutoNum type="arabicPeriod" startAt="4"/>
            </a:pPr>
            <a:r>
              <a:rPr lang="en-US" sz="180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Extract, validate, and structure results</a:t>
            </a:r>
            <a:endParaRPr lang="en-US" sz="1800" dirty="0"/>
          </a:p>
          <a:p>
            <a:pPr algn="l" marL="365760" indent="-365760">
              <a:lnSpc>
                <a:spcPct val="113000"/>
              </a:lnSpc>
              <a:buSzPct val="100000"/>
              <a:buFont typeface="+mj-lt"/>
              <a:buAutoNum type="arabicPeriod" startAt="5"/>
            </a:pPr>
            <a:r>
              <a:rPr lang="en-US" sz="180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Review and approve the final Certificate of Analysis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189" y="4139168"/>
            <a:ext cx="7467413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5C5D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From lab floor to governed CoA.</a:t>
            </a:r>
            <a:endParaRPr lang="en-US" sz="14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394" y="0"/>
            <a:ext cx="3962301" cy="6858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8793" y="6521351"/>
            <a:ext cx="705626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3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9583"/>
            <a:ext cx="746741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82" kern="100" dirty="0">
                <a:solidFill>
                  <a:srgbClr val="00F2F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03 · COMPUTER VISION &amp; DEVICE INGESTION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771763"/>
            <a:ext cx="7010225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b="1" spc="-72" kern="100" dirty="0">
                <a:solidFill>
                  <a:srgbClr val="F2F8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Old devices become</a:t>
            </a:r>
            <a:endParaRPr lang="en-US" sz="3600" dirty="0"/>
          </a:p>
          <a:p>
            <a:pPr algn="l" indent="0" marL="0">
              <a:lnSpc>
                <a:spcPct val="87000"/>
              </a:lnSpc>
              <a:buNone/>
            </a:pPr>
            <a:r>
              <a:rPr lang="en-US" sz="3600" b="1" spc="-72" kern="100" dirty="0">
                <a:solidFill>
                  <a:srgbClr val="00F2F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living data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189" y="1900079"/>
            <a:ext cx="701022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Vetrix captures what legacy equipment already shows, then converts it into structured, validated records.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189" y="2686447"/>
            <a:ext cx="7010225" cy="3714353"/>
          </a:xfrm>
          <a:prstGeom prst="roundRect">
            <a:avLst>
              <a:gd name="adj" fmla="val 4923"/>
            </a:avLst>
          </a:prstGeom>
          <a:solidFill>
            <a:srgbClr val="101F2B"/>
          </a:solidFill>
          <a:ln w="12700">
            <a:solidFill>
              <a:srgbClr val="294454"/>
            </a:solidFill>
            <a:prstDash val="solid"/>
          </a:ln>
          <a:effectLst>
            <a:outerShdw sx="100000" sy="100000" kx="0" ky="0" algn="bl" rotWithShape="0" blurRad="201930" dist="127" dir="16200000">
              <a:srgbClr val="00f2fe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69888" y="2699147"/>
            <a:ext cx="8839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F2F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69888" y="3019227"/>
            <a:ext cx="2124915" cy="19050"/>
          </a:xfrm>
          <a:prstGeom prst="rect">
            <a:avLst/>
          </a:prstGeom>
          <a:solidFill>
            <a:srgbClr val="00F2FE"/>
          </a:solidFill>
          <a:ln/>
        </p:spPr>
      </p:sp>
      <p:sp>
        <p:nvSpPr>
          <p:cNvPr id="8" name="Text 6"/>
          <p:cNvSpPr/>
          <p:nvPr/>
        </p:nvSpPr>
        <p:spPr>
          <a:xfrm>
            <a:off x="469888" y="3194447"/>
            <a:ext cx="2125014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D1DCE4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Detect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69888" y="3704272"/>
            <a:ext cx="2125014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YOLO finds the display area on legacy lab equipment.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2899695" y="2699147"/>
            <a:ext cx="8839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F2F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02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899695" y="3019227"/>
            <a:ext cx="2125113" cy="19050"/>
          </a:xfrm>
          <a:prstGeom prst="rect">
            <a:avLst/>
          </a:prstGeom>
          <a:solidFill>
            <a:srgbClr val="00F2FE"/>
          </a:solidFill>
          <a:ln/>
        </p:spPr>
      </p:sp>
      <p:sp>
        <p:nvSpPr>
          <p:cNvPr id="12" name="Text 10"/>
          <p:cNvSpPr/>
          <p:nvPr/>
        </p:nvSpPr>
        <p:spPr>
          <a:xfrm>
            <a:off x="2899695" y="3194447"/>
            <a:ext cx="212511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D1DCE4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Read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899695" y="3704272"/>
            <a:ext cx="2125113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EasyOCR extracts numerical readings into structured JSON.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329600" y="2699147"/>
            <a:ext cx="8839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F2F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329600" y="3019227"/>
            <a:ext cx="2125113" cy="19050"/>
          </a:xfrm>
          <a:prstGeom prst="rect">
            <a:avLst/>
          </a:prstGeom>
          <a:solidFill>
            <a:srgbClr val="00F2FE"/>
          </a:solidFill>
          <a:ln/>
        </p:spPr>
      </p:sp>
      <p:sp>
        <p:nvSpPr>
          <p:cNvPr id="16" name="Text 14"/>
          <p:cNvSpPr/>
          <p:nvPr/>
        </p:nvSpPr>
        <p:spPr>
          <a:xfrm>
            <a:off x="5329600" y="3194447"/>
            <a:ext cx="2125113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D1DCE4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Verify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5329600" y="3704272"/>
            <a:ext cx="2125113" cy="1062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Visual inspection checks container integrity and QR-code validity.</a:t>
            </a:r>
            <a:endParaRPr lang="en-US" sz="155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394" y="0"/>
            <a:ext cx="3962301" cy="68580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228793" y="6521351"/>
            <a:ext cx="705626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4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823004" cy="6858000"/>
          </a:xfrm>
          <a:prstGeom prst="roundRect">
            <a:avLst>
              <a:gd name="adj" fmla="val 2667"/>
            </a:avLst>
          </a:prstGeom>
          <a:solidFill>
            <a:srgbClr val="101F2B"/>
          </a:solidFill>
          <a:ln w="12700">
            <a:solidFill>
              <a:srgbClr val="294454"/>
            </a:solidFill>
            <a:prstDash val="solid"/>
          </a:ln>
          <a:effectLst>
            <a:outerShdw sx="100000" sy="100000" kx="0" ky="0" algn="bl" rotWithShape="0" blurRad="201930" dist="127" dir="16200000">
              <a:srgbClr val="00f2fe">
                <a:alpha val="10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44489" y="380683"/>
            <a:ext cx="7378515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82" kern="100" dirty="0">
                <a:solidFill>
                  <a:srgbClr val="00F2F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04 · RAG KNOWLEDGE ASSISTANT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44489" y="682863"/>
            <a:ext cx="6984825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b="1" spc="-72" kern="100" dirty="0">
                <a:solidFill>
                  <a:srgbClr val="D1DCE4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RAG-Powered Pharmacopoeia Knowledge Assistant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44489" y="1811179"/>
            <a:ext cx="698482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Retrieval supplies evidence first. Generation explains it with exact citations at query time.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489" y="2597547"/>
            <a:ext cx="571486" cy="57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44489" y="3302397"/>
            <a:ext cx="222661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D1DCE4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Retrieve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444489" y="3815794"/>
            <a:ext cx="2226611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Qdrant or FAISS vector database for semantic retrieval.</a:t>
            </a:r>
            <a:endParaRPr lang="en-US" sz="18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3497" y="2597547"/>
            <a:ext cx="571486" cy="5715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823497" y="3302397"/>
            <a:ext cx="222671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D1DCE4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Ground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2823497" y="3815794"/>
            <a:ext cx="2226711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Ingest Egyptian Drug Authority and British Pharmacopoeia Veterinary standards.</a:t>
            </a:r>
            <a:endParaRPr lang="en-US" sz="18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603" y="2597547"/>
            <a:ext cx="571486" cy="5715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202603" y="3302397"/>
            <a:ext cx="2226611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D1DCE4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Answer</a:t>
            </a:r>
            <a:endParaRPr lang="en-US" sz="2400" dirty="0"/>
          </a:p>
        </p:txBody>
      </p:sp>
      <p:sp>
        <p:nvSpPr>
          <p:cNvPr id="14" name="Text 9"/>
          <p:cNvSpPr/>
          <p:nvPr/>
        </p:nvSpPr>
        <p:spPr>
          <a:xfrm>
            <a:off x="5202603" y="3815794"/>
            <a:ext cx="2226611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Return testing standards, impurity limits, and exact citations.</a:t>
            </a:r>
            <a:endParaRPr lang="en-US" sz="18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193" y="0"/>
            <a:ext cx="3911502" cy="68580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28793" y="6521351"/>
            <a:ext cx="705626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5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89" y="367983"/>
            <a:ext cx="848338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82" kern="100" dirty="0">
                <a:solidFill>
                  <a:srgbClr val="00F2F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05 · PREDICTIVE ANALYTICS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31789" y="670163"/>
            <a:ext cx="8178595" cy="9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b="1" spc="-72" kern="100" dirty="0">
                <a:solidFill>
                  <a:srgbClr val="F2F8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Risk is scored, explained, and monitored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31789" y="1798479"/>
            <a:ext cx="848338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Vetrix pairs classification with explainability and operational awareness.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31789" y="2331839"/>
            <a:ext cx="8178595" cy="31651"/>
          </a:xfrm>
          <a:prstGeom prst="roundRect">
            <a:avLst>
              <a:gd name="adj" fmla="val 49998"/>
            </a:avLst>
          </a:prstGeom>
          <a:solidFill>
            <a:srgbClr val="00F2FE"/>
          </a:solidFill>
          <a:ln/>
        </p:spPr>
      </p:sp>
      <p:sp>
        <p:nvSpPr>
          <p:cNvPr id="6" name="Text 4"/>
          <p:cNvSpPr/>
          <p:nvPr/>
        </p:nvSpPr>
        <p:spPr>
          <a:xfrm>
            <a:off x="431789" y="2774752"/>
            <a:ext cx="817859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8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Low · Medium · High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31789" y="3288149"/>
            <a:ext cx="848338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Random Forest or XGBoost classifies supplier and batch risk.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31789" y="3943747"/>
            <a:ext cx="817859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8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Feature importance + SHAP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31789" y="4457144"/>
            <a:ext cx="848338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Model decisions remain interpretable for laboratory review.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31789" y="5112742"/>
            <a:ext cx="8178595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2F8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10 instruments monitored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31789" y="5626140"/>
            <a:ext cx="848338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Predictive maintenance tracks connected lab equipment by operational hours.</a:t>
            </a:r>
            <a:endParaRPr lang="en-US" sz="18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9969" y="0"/>
            <a:ext cx="2971726" cy="6858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228793" y="6521351"/>
            <a:ext cx="705626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6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89" y="381000"/>
            <a:ext cx="2758411" cy="561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1350"/>
              </a:spcAft>
              <a:buNone/>
            </a:pPr>
            <a:endParaRPr lang="en-US" sz="13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1300" spc="179" kern="100" dirty="0">
                <a:solidFill>
                  <a:srgbClr val="00F2F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06 · TRUST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31789" y="1774788"/>
            <a:ext cx="2758411" cy="188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50" b="1" spc="-71" kern="100" dirty="0">
                <a:solidFill>
                  <a:srgbClr val="F2F8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Compliance becomes</a:t>
            </a:r>
            <a:endParaRPr lang="en-US" sz="355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3550" b="1" spc="-71" kern="100" dirty="0">
                <a:solidFill>
                  <a:srgbClr val="00F2FE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operational trust</a:t>
            </a:r>
            <a:endParaRPr lang="en-US" sz="3550" dirty="0"/>
          </a:p>
        </p:txBody>
      </p:sp>
      <p:sp>
        <p:nvSpPr>
          <p:cNvPr id="4" name="Text 2"/>
          <p:cNvSpPr/>
          <p:nvPr/>
        </p:nvSpPr>
        <p:spPr>
          <a:xfrm>
            <a:off x="431789" y="3829130"/>
            <a:ext cx="2758411" cy="1504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7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Trustworthy data is captured, controlled, signed, and traceable from first reading to final approval.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31789" y="5504492"/>
            <a:ext cx="2758411" cy="908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5C5D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Cryptographic security turns compliance from a final checkpoint into a property of the workflow.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850484" y="381000"/>
            <a:ext cx="8163415" cy="6096000"/>
          </a:xfrm>
          <a:prstGeom prst="roundRect">
            <a:avLst>
              <a:gd name="adj" fmla="val 3000"/>
            </a:avLst>
          </a:prstGeom>
          <a:solidFill>
            <a:srgbClr val="101F2B"/>
          </a:solidFill>
          <a:ln w="12700">
            <a:solidFill>
              <a:srgbClr val="294454"/>
            </a:solidFill>
            <a:prstDash val="solid"/>
          </a:ln>
          <a:effectLst>
            <a:outerShdw sx="100000" sy="100000" kx="0" ky="0" algn="bl" rotWithShape="0" blurRad="201930" dist="127" dir="16200000">
              <a:srgbClr val="00f2fe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5580" y="546100"/>
            <a:ext cx="449450" cy="4494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15580" y="1146280"/>
            <a:ext cx="2407880" cy="374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D1DCE4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Log</a:t>
            </a:r>
            <a:endParaRPr lang="en-US" sz="2350" dirty="0"/>
          </a:p>
        </p:txBody>
      </p:sp>
      <p:sp>
        <p:nvSpPr>
          <p:cNvPr id="9" name="Text 6"/>
          <p:cNvSpPr/>
          <p:nvPr/>
        </p:nvSpPr>
        <p:spPr>
          <a:xfrm>
            <a:off x="4015580" y="1649820"/>
            <a:ext cx="2407880" cy="77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Every material action enters an immutable audit trail.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8252" y="546100"/>
            <a:ext cx="449450" cy="4494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728252" y="1146280"/>
            <a:ext cx="2407880" cy="374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D1DCE4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Control</a:t>
            </a:r>
            <a:endParaRPr lang="en-US" sz="2350" dirty="0"/>
          </a:p>
        </p:txBody>
      </p:sp>
      <p:sp>
        <p:nvSpPr>
          <p:cNvPr id="12" name="Text 8"/>
          <p:cNvSpPr/>
          <p:nvPr/>
        </p:nvSpPr>
        <p:spPr>
          <a:xfrm>
            <a:off x="6728252" y="1649820"/>
            <a:ext cx="2407880" cy="518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Role-based access follows the laboratory workflow.</a:t>
            </a:r>
            <a:endParaRPr lang="en-US" sz="15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0924" y="546100"/>
            <a:ext cx="449450" cy="44946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440924" y="1146280"/>
            <a:ext cx="2407880" cy="374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D1DCE4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Sign</a:t>
            </a:r>
            <a:endParaRPr lang="en-US" sz="2350" dirty="0"/>
          </a:p>
        </p:txBody>
      </p:sp>
      <p:sp>
        <p:nvSpPr>
          <p:cNvPr id="15" name="Text 10"/>
          <p:cNvSpPr/>
          <p:nvPr/>
        </p:nvSpPr>
        <p:spPr>
          <a:xfrm>
            <a:off x="9440924" y="1649820"/>
            <a:ext cx="2407880" cy="777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Two-factor electronic signatures govern approvals.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1866960" y="6521351"/>
            <a:ext cx="324735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7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9583"/>
            <a:ext cx="1173450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82" kern="100" dirty="0">
                <a:solidFill>
                  <a:srgbClr val="00F2F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07 · EXECUTION MATRIX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189" y="771763"/>
            <a:ext cx="11277318" cy="480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b="1" spc="-72" kern="100" dirty="0">
                <a:solidFill>
                  <a:srgbClr val="F2F8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Six workstreams. One integrated system.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189" y="1420058"/>
            <a:ext cx="1173450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Each role owns a technical layer that must connect cleanly to the next.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189" y="1897856"/>
            <a:ext cx="3657509" cy="1758156"/>
          </a:xfrm>
          <a:prstGeom prst="roundRect">
            <a:avLst>
              <a:gd name="adj" fmla="val 5461"/>
            </a:avLst>
          </a:prstGeom>
          <a:solidFill>
            <a:srgbClr val="04454E"/>
          </a:solidFill>
          <a:ln/>
        </p:spPr>
      </p:sp>
      <p:sp>
        <p:nvSpPr>
          <p:cNvPr id="6" name="Text 4"/>
          <p:cNvSpPr/>
          <p:nvPr/>
        </p:nvSpPr>
        <p:spPr>
          <a:xfrm>
            <a:off x="685783" y="2138839"/>
            <a:ext cx="342891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82" kern="100" dirty="0">
                <a:solidFill>
                  <a:srgbClr val="00F2F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BACKEND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783" y="2421334"/>
            <a:ext cx="3200320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8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Abdallah Waleed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783" y="2900998"/>
            <a:ext cx="3200320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Architecture, APIs, CFR 21 audit trail &amp; IoT protocols.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4267093" y="1897856"/>
            <a:ext cx="3657509" cy="1758156"/>
          </a:xfrm>
          <a:prstGeom prst="roundRect">
            <a:avLst>
              <a:gd name="adj" fmla="val 5461"/>
            </a:avLst>
          </a:prstGeom>
          <a:solidFill>
            <a:srgbClr val="04454E"/>
          </a:solidFill>
          <a:ln/>
        </p:spPr>
      </p:sp>
      <p:sp>
        <p:nvSpPr>
          <p:cNvPr id="10" name="Text 8"/>
          <p:cNvSpPr/>
          <p:nvPr/>
        </p:nvSpPr>
        <p:spPr>
          <a:xfrm>
            <a:off x="4495688" y="2138839"/>
            <a:ext cx="342891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82" kern="100" dirty="0">
                <a:solidFill>
                  <a:srgbClr val="00F2F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VISION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95688" y="2421334"/>
            <a:ext cx="3200320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8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Saif Sameh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495688" y="2900998"/>
            <a:ext cx="3200320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YOLO, OCR &amp; laboratory devices simulator.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76998" y="1897856"/>
            <a:ext cx="3657509" cy="1758156"/>
          </a:xfrm>
          <a:prstGeom prst="roundRect">
            <a:avLst>
              <a:gd name="adj" fmla="val 5461"/>
            </a:avLst>
          </a:prstGeom>
          <a:solidFill>
            <a:srgbClr val="04454E"/>
          </a:solidFill>
          <a:ln/>
        </p:spPr>
      </p:sp>
      <p:sp>
        <p:nvSpPr>
          <p:cNvPr id="14" name="Text 12"/>
          <p:cNvSpPr/>
          <p:nvPr/>
        </p:nvSpPr>
        <p:spPr>
          <a:xfrm>
            <a:off x="8305592" y="2138839"/>
            <a:ext cx="342891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82" kern="100" dirty="0">
                <a:solidFill>
                  <a:srgbClr val="00F2F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RAG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05592" y="2421334"/>
            <a:ext cx="3200320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8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Mohamed Shaheen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305592" y="2900998"/>
            <a:ext cx="3200320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Retrieval pipeline, vector DB &amp; LLM assistant.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57189" y="3808412"/>
            <a:ext cx="3657509" cy="1758156"/>
          </a:xfrm>
          <a:prstGeom prst="roundRect">
            <a:avLst>
              <a:gd name="adj" fmla="val 5461"/>
            </a:avLst>
          </a:prstGeom>
          <a:solidFill>
            <a:srgbClr val="04454E"/>
          </a:solidFill>
          <a:ln/>
        </p:spPr>
      </p:sp>
      <p:sp>
        <p:nvSpPr>
          <p:cNvPr id="18" name="Text 16"/>
          <p:cNvSpPr/>
          <p:nvPr/>
        </p:nvSpPr>
        <p:spPr>
          <a:xfrm>
            <a:off x="685783" y="4049395"/>
            <a:ext cx="342891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82" kern="100" dirty="0">
                <a:solidFill>
                  <a:srgbClr val="00F2F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PRODUCT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783" y="4331891"/>
            <a:ext cx="3200320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8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Taqa Medhat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85783" y="4811554"/>
            <a:ext cx="3200320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React/Next.js UI/UX &amp; CoA PDF generator.</a:t>
            </a:r>
            <a:endParaRPr lang="en-US" sz="1550" dirty="0"/>
          </a:p>
        </p:txBody>
      </p:sp>
      <p:sp>
        <p:nvSpPr>
          <p:cNvPr id="21" name="Shape 19"/>
          <p:cNvSpPr/>
          <p:nvPr/>
        </p:nvSpPr>
        <p:spPr>
          <a:xfrm>
            <a:off x="4267093" y="3808412"/>
            <a:ext cx="3657509" cy="1758156"/>
          </a:xfrm>
          <a:prstGeom prst="roundRect">
            <a:avLst>
              <a:gd name="adj" fmla="val 5461"/>
            </a:avLst>
          </a:prstGeom>
          <a:solidFill>
            <a:srgbClr val="04454E"/>
          </a:solidFill>
          <a:ln/>
        </p:spPr>
      </p:sp>
      <p:sp>
        <p:nvSpPr>
          <p:cNvPr id="22" name="Text 20"/>
          <p:cNvSpPr/>
          <p:nvPr/>
        </p:nvSpPr>
        <p:spPr>
          <a:xfrm>
            <a:off x="4495688" y="4049395"/>
            <a:ext cx="342891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82" kern="100" dirty="0">
                <a:solidFill>
                  <a:srgbClr val="00F2F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MODELING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95688" y="4331891"/>
            <a:ext cx="3200320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8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Mohamed Salah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495688" y="4811554"/>
            <a:ext cx="3200320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ML risk scoring, SHAP &amp; predictive maintenance.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8076998" y="3808412"/>
            <a:ext cx="3657509" cy="1758156"/>
          </a:xfrm>
          <a:prstGeom prst="roundRect">
            <a:avLst>
              <a:gd name="adj" fmla="val 5461"/>
            </a:avLst>
          </a:prstGeom>
          <a:solidFill>
            <a:srgbClr val="04454E"/>
          </a:solidFill>
          <a:ln/>
        </p:spPr>
      </p:sp>
      <p:sp>
        <p:nvSpPr>
          <p:cNvPr id="26" name="Text 24"/>
          <p:cNvSpPr/>
          <p:nvPr/>
        </p:nvSpPr>
        <p:spPr>
          <a:xfrm>
            <a:off x="8305592" y="4049395"/>
            <a:ext cx="3428914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82" kern="100" dirty="0">
                <a:solidFill>
                  <a:srgbClr val="00F2F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PLATFORM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305592" y="4331891"/>
            <a:ext cx="3200320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2F8FC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Mahmoud Abdelghany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8305592" y="4811554"/>
            <a:ext cx="3200320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Data pipelines, Docker containers &amp; DevOps.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1866960" y="6521351"/>
            <a:ext cx="324735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8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89" y="393382"/>
            <a:ext cx="3088602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82" kern="100" dirty="0">
                <a:solidFill>
                  <a:srgbClr val="00F2F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08 · FIRST-TERM DELIVERY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31789" y="695563"/>
            <a:ext cx="3088602" cy="192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3600" b="1" spc="-72" kern="100" dirty="0">
                <a:solidFill>
                  <a:srgbClr val="F2F8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A tight path from</a:t>
            </a:r>
            <a:endParaRPr lang="en-US" sz="3600" dirty="0"/>
          </a:p>
          <a:p>
            <a:pPr algn="l" indent="0" marL="0">
              <a:lnSpc>
                <a:spcPct val="87000"/>
              </a:lnSpc>
              <a:buNone/>
            </a:pPr>
            <a:r>
              <a:rPr lang="en-US" sz="3600" b="1" spc="-72" kern="100" dirty="0">
                <a:solidFill>
                  <a:srgbClr val="F2F8F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prototype to demo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31789" y="2783919"/>
            <a:ext cx="3088602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The first term prioritizes a demonstrable MVP over disconnected feature work.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31789" y="4783832"/>
            <a:ext cx="3088602" cy="381893"/>
          </a:xfrm>
          <a:prstGeom prst="roundRect">
            <a:avLst>
              <a:gd name="adj" fmla="val 49999"/>
            </a:avLst>
          </a:prstGeom>
          <a:solidFill>
            <a:srgbClr val="101F2B"/>
          </a:solidFill>
          <a:ln w="12700">
            <a:solidFill>
              <a:srgbClr val="00F2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44489" y="4796532"/>
            <a:ext cx="1915072" cy="356493"/>
          </a:xfrm>
          <a:prstGeom prst="roundRect">
            <a:avLst>
              <a:gd name="adj" fmla="val 21545"/>
            </a:avLst>
          </a:prstGeom>
          <a:noFill/>
          <a:ln w="6350">
            <a:solidFill>
              <a:srgbClr val="B5C5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1606" y="4870693"/>
            <a:ext cx="2250423" cy="219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50" spc="115" kern="100" dirty="0">
                <a:solidFill>
                  <a:srgbClr val="B5C5D0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70% MVP FOCUS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977481" y="0"/>
            <a:ext cx="8214214" cy="6858000"/>
          </a:xfrm>
          <a:prstGeom prst="roundRect">
            <a:avLst>
              <a:gd name="adj" fmla="val 2667"/>
            </a:avLst>
          </a:prstGeom>
          <a:solidFill>
            <a:srgbClr val="101F2B"/>
          </a:solidFill>
          <a:ln w="12700">
            <a:solidFill>
              <a:srgbClr val="294454"/>
            </a:solidFill>
            <a:prstDash val="solid"/>
          </a:ln>
          <a:effectLst>
            <a:outerShdw sx="100000" sy="100000" kx="0" ky="0" algn="bl" rotWithShape="0" blurRad="201930" dist="127" dir="16200000">
              <a:srgbClr val="00f2fe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47369" y="469900"/>
            <a:ext cx="8839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F2F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01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47369" y="789980"/>
            <a:ext cx="2323050" cy="19050"/>
          </a:xfrm>
          <a:prstGeom prst="rect">
            <a:avLst/>
          </a:prstGeom>
          <a:solidFill>
            <a:srgbClr val="00F2FE"/>
          </a:solidFill>
          <a:ln/>
        </p:spPr>
      </p:sp>
      <p:sp>
        <p:nvSpPr>
          <p:cNvPr id="11" name="Text 9"/>
          <p:cNvSpPr/>
          <p:nvPr/>
        </p:nvSpPr>
        <p:spPr>
          <a:xfrm>
            <a:off x="4447369" y="965200"/>
            <a:ext cx="232314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D1DCE4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Foundation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47369" y="1475026"/>
            <a:ext cx="2323149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Core API endpoints and sample lifecycle tracking.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22914" y="469900"/>
            <a:ext cx="8839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F2F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922914" y="789980"/>
            <a:ext cx="2323248" cy="19050"/>
          </a:xfrm>
          <a:prstGeom prst="rect">
            <a:avLst/>
          </a:prstGeom>
          <a:solidFill>
            <a:srgbClr val="00F2FE"/>
          </a:solidFill>
          <a:ln/>
        </p:spPr>
      </p:sp>
      <p:sp>
        <p:nvSpPr>
          <p:cNvPr id="15" name="Text 13"/>
          <p:cNvSpPr/>
          <p:nvPr/>
        </p:nvSpPr>
        <p:spPr>
          <a:xfrm>
            <a:off x="6922914" y="965200"/>
            <a:ext cx="232324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D1DCE4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Capture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922914" y="1475026"/>
            <a:ext cx="2323248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OCR extraction pipeline from legacy displays.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398559" y="469900"/>
            <a:ext cx="8839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F2F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398559" y="789980"/>
            <a:ext cx="2323050" cy="19050"/>
          </a:xfrm>
          <a:prstGeom prst="rect">
            <a:avLst/>
          </a:prstGeom>
          <a:solidFill>
            <a:srgbClr val="00F2FE"/>
          </a:solidFill>
          <a:ln/>
        </p:spPr>
      </p:sp>
      <p:sp>
        <p:nvSpPr>
          <p:cNvPr id="19" name="Text 17"/>
          <p:cNvSpPr/>
          <p:nvPr/>
        </p:nvSpPr>
        <p:spPr>
          <a:xfrm>
            <a:off x="9398559" y="965200"/>
            <a:ext cx="2323149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D1DCE4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Reason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398559" y="1475026"/>
            <a:ext cx="2323149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RAG question-answering demonstration with citations.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447369" y="3015357"/>
            <a:ext cx="88391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00" dirty="0">
                <a:solidFill>
                  <a:srgbClr val="00F2FE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04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447369" y="3335437"/>
            <a:ext cx="7274239" cy="19050"/>
          </a:xfrm>
          <a:prstGeom prst="rect">
            <a:avLst/>
          </a:prstGeom>
          <a:solidFill>
            <a:srgbClr val="00F2FE"/>
          </a:solidFill>
          <a:ln/>
        </p:spPr>
      </p:sp>
      <p:sp>
        <p:nvSpPr>
          <p:cNvPr id="23" name="Text 21"/>
          <p:cNvSpPr/>
          <p:nvPr/>
        </p:nvSpPr>
        <p:spPr>
          <a:xfrm>
            <a:off x="4447369" y="3510657"/>
            <a:ext cx="7274338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D1DCE4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Decide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447369" y="4020483"/>
            <a:ext cx="727433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Risk dashboard widgets for supplier and batch scoring.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4447369" y="5934829"/>
            <a:ext cx="7274438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5C5D0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The MVP is complete when the core lifecycle, evidence retrieval, and risk view work together in one integrated demonstration.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866960" y="6521351"/>
            <a:ext cx="324735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9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83" y="393382"/>
            <a:ext cx="726421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182" kern="100" dirty="0">
                <a:solidFill>
                  <a:srgbClr val="FFFFFF"/>
                </a:solidFill>
                <a:latin typeface="IBM Plex Sans SemiBold" pitchFamily="34" charset="0"/>
                <a:ea typeface="IBM Plex Sans SemiBold" pitchFamily="34" charset="-122"/>
                <a:cs typeface="IBM Plex Sans SemiBold" pitchFamily="34" charset="0"/>
              </a:rPr>
              <a:t>09 · CONCLUSION &amp; FUTURE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60383" y="1845937"/>
            <a:ext cx="6832429" cy="2694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200" b="1" spc="-104" kern="1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Vetrix connects the lab</a:t>
            </a:r>
            <a:endParaRPr lang="en-US" sz="52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5200" b="1" spc="-104" kern="100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0"/>
              </a:rPr>
              <a:t>so decisions can be trusted.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660383" y="4732536"/>
            <a:ext cx="2254690" cy="50701"/>
          </a:xfrm>
          <a:prstGeom prst="roundRect">
            <a:avLst>
              <a:gd name="adj" fmla="val 49999"/>
            </a:avLst>
          </a:prstGeom>
          <a:solidFill>
            <a:srgbClr val="00F2FE"/>
          </a:solidFill>
          <a:ln/>
        </p:spPr>
      </p:sp>
      <p:sp>
        <p:nvSpPr>
          <p:cNvPr id="5" name="Text 3"/>
          <p:cNvSpPr/>
          <p:nvPr/>
        </p:nvSpPr>
        <p:spPr>
          <a:xfrm>
            <a:off x="660383" y="5025271"/>
            <a:ext cx="6832429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From fragmented veterinary lab work to a connected, auditable system.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0383" y="5820529"/>
            <a:ext cx="6832429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Next: integrate live instruments, harden deployment, and move toward industrial rollout.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356391" y="304800"/>
            <a:ext cx="3276518" cy="6248400"/>
          </a:xfrm>
          <a:prstGeom prst="roundRect">
            <a:avLst>
              <a:gd name="adj" fmla="val 5581"/>
            </a:avLst>
          </a:prstGeom>
          <a:solidFill>
            <a:srgbClr val="101F2B"/>
          </a:solidFill>
          <a:ln w="12700">
            <a:solidFill>
              <a:srgbClr val="294454"/>
            </a:solidFill>
            <a:prstDash val="solid"/>
          </a:ln>
          <a:effectLst>
            <a:outerShdw sx="100000" sy="100000" kx="0" ky="0" algn="bl" rotWithShape="0" blurRad="201930" dist="127" dir="16200000">
              <a:srgbClr val="00f2fe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369091" y="317500"/>
            <a:ext cx="3251119" cy="1937941"/>
          </a:xfrm>
          <a:prstGeom prst="rect">
            <a:avLst/>
          </a:prstGeom>
          <a:solidFill>
            <a:srgbClr val="04454E"/>
          </a:solidFill>
          <a:ln/>
        </p:spPr>
      </p:sp>
      <p:sp>
        <p:nvSpPr>
          <p:cNvPr id="9" name="Text 7"/>
          <p:cNvSpPr/>
          <p:nvPr/>
        </p:nvSpPr>
        <p:spPr>
          <a:xfrm>
            <a:off x="8826279" y="792162"/>
            <a:ext cx="2336742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Capture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826279" y="1271826"/>
            <a:ext cx="2336742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Automation improves compliance efficiency.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369091" y="2407841"/>
            <a:ext cx="3251119" cy="1937941"/>
          </a:xfrm>
          <a:prstGeom prst="rect">
            <a:avLst/>
          </a:prstGeom>
          <a:solidFill>
            <a:srgbClr val="04454E"/>
          </a:solidFill>
          <a:ln/>
        </p:spPr>
      </p:sp>
      <p:sp>
        <p:nvSpPr>
          <p:cNvPr id="12" name="Text 10"/>
          <p:cNvSpPr/>
          <p:nvPr/>
        </p:nvSpPr>
        <p:spPr>
          <a:xfrm>
            <a:off x="8826279" y="2882503"/>
            <a:ext cx="2336742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See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826279" y="3362166"/>
            <a:ext cx="2336742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Decision visibility becomes continuous.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8369091" y="4498181"/>
            <a:ext cx="3251119" cy="2042319"/>
          </a:xfrm>
          <a:prstGeom prst="rect">
            <a:avLst/>
          </a:prstGeom>
          <a:solidFill>
            <a:srgbClr val="04454E"/>
          </a:solidFill>
          <a:ln/>
        </p:spPr>
      </p:sp>
      <p:sp>
        <p:nvSpPr>
          <p:cNvPr id="15" name="Text 13"/>
          <p:cNvSpPr/>
          <p:nvPr/>
        </p:nvSpPr>
        <p:spPr>
          <a:xfrm>
            <a:off x="8826279" y="4972844"/>
            <a:ext cx="2336742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0"/>
              </a:rPr>
              <a:t>Scale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826279" y="5452507"/>
            <a:ext cx="2336742" cy="797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The prototype points toward Egyptian veterinary pharma impact.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1771018" y="6521351"/>
            <a:ext cx="420677" cy="21599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D1DCE4"/>
                </a:solidFill>
                <a:latin typeface="IBM Plex Sans" pitchFamily="34" charset="0"/>
                <a:ea typeface="IBM Plex Sans" pitchFamily="34" charset="-122"/>
                <a:cs typeface="IBM Plex Sans" pitchFamily="34" charset="0"/>
              </a:rPr>
              <a:t>10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2026-10-31T09:24:30Z</dcterms:created>
  <dcterms:modified xsi:type="dcterms:W3CDTF">2026-10-31T09:24:30Z</dcterms:modified>
</cp:coreProperties>
</file>